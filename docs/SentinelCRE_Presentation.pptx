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2743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9144000" cy="2743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371600"/>
            <a:ext cx="9144000" cy="2743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828800"/>
            <a:ext cx="9144000" cy="2743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286000"/>
            <a:ext cx="9144000" cy="2743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743200"/>
            <a:ext cx="9144000" cy="2743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200400"/>
            <a:ext cx="9144000" cy="2743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657600"/>
            <a:ext cx="9144000" cy="2743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114800"/>
            <a:ext cx="9144000" cy="2743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2743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029200"/>
            <a:ext cx="9144000" cy="2743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2860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1148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7724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2296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6868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365760"/>
            <a:ext cx="1554480" cy="155448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383280" y="-45720"/>
            <a:ext cx="2377440" cy="2377440"/>
          </a:xfrm>
          <a:prstGeom prst="oval">
            <a:avLst/>
          </a:prstGeom>
          <a:solidFill>
            <a:srgbClr val="00D4FF">
              <a:alpha val="10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SentinelCRE</a:t>
            </a:r>
            <a:endParaRPr lang="en-US" sz="4800" dirty="0"/>
          </a:p>
        </p:txBody>
      </p:sp>
      <p:sp>
        <p:nvSpPr>
          <p:cNvPr id="37" name="Text 34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AI Guardian Protocol</a:t>
            </a:r>
            <a:endParaRPr lang="en-US" sz="2000" dirty="0"/>
          </a:p>
        </p:txBody>
      </p:sp>
      <p:sp>
        <p:nvSpPr>
          <p:cNvPr id="38" name="Shape 35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even legitimate agents can go rogue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 Convergence Hackathon  •  AI + Web3  |  Confidential Compute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Willis — @ProjectWaja  |  Blockchain Musketeers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D4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74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1005840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0515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aren't inherently malicious — but legitimate agents with legitimate addresses become lethal weapons the moment a bad actor gains access. Current security trusts identity. It should be watching behavior.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240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 Vectors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2697480"/>
            <a:ext cx="3840480" cy="438912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70632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715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Injection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05840" y="291693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agent, hijacked instructions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3227832"/>
            <a:ext cx="3840480" cy="438912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300984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Poisoning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05840" y="34472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model, corrupted decisions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57200" y="3758184"/>
            <a:ext cx="3840480" cy="438912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83133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5840" y="3776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Stolen Credentials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005840" y="397764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keys, unauthorized actor behind them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57200" y="4288536"/>
            <a:ext cx="3840480" cy="438912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361688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05840" y="43068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Malicious Operators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1005840" y="45079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address, real permissions, wrong hands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4846320" y="2240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3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Damage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4846320" y="2697480"/>
            <a:ext cx="3840480" cy="621792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846320" y="2697480"/>
            <a:ext cx="54864" cy="621792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28" name="Text 21"/>
          <p:cNvSpPr/>
          <p:nvPr/>
        </p:nvSpPr>
        <p:spPr>
          <a:xfrm>
            <a:off x="5074920" y="2743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3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$180M</a:t>
            </a:r>
            <a:endParaRPr lang="en-US" sz="2000" dirty="0"/>
          </a:p>
        </p:txBody>
      </p:sp>
      <p:sp>
        <p:nvSpPr>
          <p:cNvPr id="29" name="Text 22"/>
          <p:cNvSpPr/>
          <p:nvPr/>
        </p:nvSpPr>
        <p:spPr>
          <a:xfrm>
            <a:off x="6126480" y="2743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Paid Network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5074920" y="30266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mint exploit drained entire protocol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4846320" y="3410712"/>
            <a:ext cx="3840480" cy="621792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846320" y="3410712"/>
            <a:ext cx="54864" cy="621792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33" name="Text 26"/>
          <p:cNvSpPr/>
          <p:nvPr/>
        </p:nvSpPr>
        <p:spPr>
          <a:xfrm>
            <a:off x="5074920" y="34564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3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~$4M</a:t>
            </a:r>
            <a:endParaRPr lang="en-US" sz="2000" dirty="0"/>
          </a:p>
        </p:txBody>
      </p:sp>
      <p:sp>
        <p:nvSpPr>
          <p:cNvPr id="34" name="Text 27"/>
          <p:cNvSpPr/>
          <p:nvPr/>
        </p:nvSpPr>
        <p:spPr>
          <a:xfrm>
            <a:off x="6126480" y="34564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 Protocol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5074920" y="373989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Minting exploit crashed token to near zero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4846320" y="4123944"/>
            <a:ext cx="3840480" cy="621792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4846320" y="4123944"/>
            <a:ext cx="54864" cy="621792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38" name="Text 31"/>
          <p:cNvSpPr/>
          <p:nvPr/>
        </p:nvSpPr>
        <p:spPr>
          <a:xfrm>
            <a:off x="5074920" y="41696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3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$50M</a:t>
            </a:r>
            <a:endParaRPr lang="en-US" sz="2000" dirty="0"/>
          </a:p>
        </p:txBody>
      </p:sp>
      <p:sp>
        <p:nvSpPr>
          <p:cNvPr id="39" name="Text 32"/>
          <p:cNvSpPr/>
          <p:nvPr/>
        </p:nvSpPr>
        <p:spPr>
          <a:xfrm>
            <a:off x="6126480" y="41696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Uranium Finance</a:t>
            </a:r>
            <a:endParaRPr lang="en-US" sz="1300" dirty="0"/>
          </a:p>
        </p:txBody>
      </p:sp>
      <p:sp>
        <p:nvSpPr>
          <p:cNvPr id="40" name="Text 33"/>
          <p:cNvSpPr/>
          <p:nvPr/>
        </p:nvSpPr>
        <p:spPr>
          <a:xfrm>
            <a:off x="5074920" y="44531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manipulation — complete fund drain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736"/>
          </a:solidFill>
          <a:ln/>
        </p:spPr>
      </p:sp>
      <p:sp>
        <p:nvSpPr>
          <p:cNvPr id="42" name="Text 35"/>
          <p:cNvSpPr/>
          <p:nvPr/>
        </p:nvSpPr>
        <p:spPr>
          <a:xfrm>
            <a:off x="457200" y="4983480"/>
            <a:ext cx="54864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SentinelCRE — Decentralized AI Guardian Protocol</a:t>
            </a:r>
            <a:endParaRPr lang="en-US" sz="800" dirty="0"/>
          </a:p>
        </p:txBody>
      </p:sp>
      <p:sp>
        <p:nvSpPr>
          <p:cNvPr id="43" name="Text 3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74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229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0515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SentinelCRE doesn't trust who you are — it watches what you do. A behavioral firewall that blocks malicious actions before they touch the blockchain, even when they come from a legitimate address.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148840"/>
            <a:ext cx="2606040" cy="256032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325880" y="2331720"/>
            <a:ext cx="868680" cy="868680"/>
          </a:xfrm>
          <a:prstGeom prst="oval">
            <a:avLst/>
          </a:prstGeom>
          <a:solidFill>
            <a:srgbClr val="0A0E2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251460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4360" y="3337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Multi-AI Consensus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40080" y="370332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the action, not the address. Two independent AI models must both approve what's being attempted.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291840" y="2148840"/>
            <a:ext cx="2606040" cy="256032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160520" y="2331720"/>
            <a:ext cx="868680" cy="868680"/>
          </a:xfrm>
          <a:prstGeom prst="oval">
            <a:avLst/>
          </a:prstGeom>
          <a:solidFill>
            <a:srgbClr val="0A0E2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51460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29000" y="3337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FF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On-Chain Policy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3474720" y="370332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limits no identity can bypass. Value caps, whitelists, rate limits, mint caps — enforced regardless of who's asking.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126480" y="2148840"/>
            <a:ext cx="2606040" cy="256032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995160" y="2331720"/>
            <a:ext cx="868680" cy="868680"/>
          </a:xfrm>
          <a:prstGeom prst="oval">
            <a:avLst/>
          </a:prstGeom>
          <a:solidFill>
            <a:srgbClr val="0A0E2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251460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63640" y="3337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Circuit Breaker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309360" y="370332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behavior turns rogue, the agent freezes. Incident logged immutably. Only admin can restore.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736"/>
          </a:solidFill>
          <a:ln/>
        </p:spPr>
      </p:sp>
      <p:sp>
        <p:nvSpPr>
          <p:cNvPr id="24" name="Text 18"/>
          <p:cNvSpPr/>
          <p:nvPr/>
        </p:nvSpPr>
        <p:spPr>
          <a:xfrm>
            <a:off x="457200" y="4983480"/>
            <a:ext cx="54864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SentinelCRE — Decentralized AI Guardian Protocol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74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274320" y="1051560"/>
            <a:ext cx="1280160" cy="141732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97280"/>
            <a:ext cx="320040" cy="320040"/>
          </a:xfrm>
          <a:prstGeom prst="oval">
            <a:avLst/>
          </a:prstGeom>
          <a:solidFill>
            <a:srgbClr val="00D4FF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" y="1554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2004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action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508760" y="1417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1719072" y="1051560"/>
            <a:ext cx="1280160" cy="141732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1764792" y="1097280"/>
            <a:ext cx="320040" cy="320040"/>
          </a:xfrm>
          <a:prstGeom prst="oval">
            <a:avLst/>
          </a:prstGeom>
          <a:solidFill>
            <a:srgbClr val="FFD700"/>
          </a:solidFill>
          <a:ln/>
        </p:spPr>
      </p:sp>
      <p:sp>
        <p:nvSpPr>
          <p:cNvPr id="14" name="Text 10"/>
          <p:cNvSpPr/>
          <p:nvPr/>
        </p:nvSpPr>
        <p:spPr>
          <a:xfrm>
            <a:off x="1764792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272" y="11430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64792" y="1554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 Trigger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1764792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receives proposal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2953512" y="1417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3163824" y="1051560"/>
            <a:ext cx="1280160" cy="141732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9544" y="1097280"/>
            <a:ext cx="320040" cy="320040"/>
          </a:xfrm>
          <a:prstGeom prst="oval">
            <a:avLst/>
          </a:prstGeom>
          <a:solidFill>
            <a:srgbClr val="00D4FF"/>
          </a:solidFill>
          <a:ln/>
        </p:spPr>
      </p:sp>
      <p:sp>
        <p:nvSpPr>
          <p:cNvPr id="21" name="Text 16"/>
          <p:cNvSpPr/>
          <p:nvPr/>
        </p:nvSpPr>
        <p:spPr>
          <a:xfrm>
            <a:off x="3209544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024" y="114300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209544" y="1554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 Action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3209544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Target, function, value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4398264" y="1417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4608576" y="1051560"/>
            <a:ext cx="1280160" cy="141732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54296" y="1097280"/>
            <a:ext cx="320040" cy="320040"/>
          </a:xfrm>
          <a:prstGeom prst="oval">
            <a:avLst/>
          </a:prstGeom>
          <a:solidFill>
            <a:srgbClr val="00D4FF"/>
          </a:solidFill>
          <a:ln/>
        </p:spPr>
      </p:sp>
      <p:sp>
        <p:nvSpPr>
          <p:cNvPr id="28" name="Text 22"/>
          <p:cNvSpPr/>
          <p:nvPr/>
        </p:nvSpPr>
        <p:spPr>
          <a:xfrm>
            <a:off x="4654296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5776" y="1143000"/>
            <a:ext cx="320040" cy="32004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654296" y="1554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Policy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4654296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EVMClient on-chain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5843016" y="1417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26"/>
          <p:cNvSpPr/>
          <p:nvPr/>
        </p:nvSpPr>
        <p:spPr>
          <a:xfrm>
            <a:off x="6053328" y="1051560"/>
            <a:ext cx="1280160" cy="141732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099048" y="1097280"/>
            <a:ext cx="320040" cy="320040"/>
          </a:xfrm>
          <a:prstGeom prst="oval">
            <a:avLst/>
          </a:prstGeom>
          <a:solidFill>
            <a:srgbClr val="00FF88"/>
          </a:solidFill>
          <a:ln/>
        </p:spPr>
      </p:sp>
      <p:sp>
        <p:nvSpPr>
          <p:cNvPr id="35" name="Text 28"/>
          <p:cNvSpPr/>
          <p:nvPr/>
        </p:nvSpPr>
        <p:spPr>
          <a:xfrm>
            <a:off x="6099048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1143000"/>
            <a:ext cx="320040" cy="32004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099048" y="1554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Consensus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6099048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models must agree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7287768" y="1417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0" name="Shape 32"/>
          <p:cNvSpPr/>
          <p:nvPr/>
        </p:nvSpPr>
        <p:spPr>
          <a:xfrm>
            <a:off x="7498080" y="1051560"/>
            <a:ext cx="1280160" cy="141732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7543800" y="1097280"/>
            <a:ext cx="320040" cy="320040"/>
          </a:xfrm>
          <a:prstGeom prst="oval">
            <a:avLst/>
          </a:prstGeom>
          <a:solidFill>
            <a:srgbClr val="00FF88"/>
          </a:solidFill>
          <a:ln/>
        </p:spPr>
      </p:sp>
      <p:sp>
        <p:nvSpPr>
          <p:cNvPr id="42" name="Text 34"/>
          <p:cNvSpPr/>
          <p:nvPr/>
        </p:nvSpPr>
        <p:spPr>
          <a:xfrm>
            <a:off x="754380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0" y="1143000"/>
            <a:ext cx="320040" cy="32004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7543800" y="1554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Verdict</a:t>
            </a:r>
            <a:endParaRPr lang="en-US" sz="1100" dirty="0"/>
          </a:p>
        </p:txBody>
      </p:sp>
      <p:sp>
        <p:nvSpPr>
          <p:cNvPr id="45" name="Text 36"/>
          <p:cNvSpPr/>
          <p:nvPr/>
        </p:nvSpPr>
        <p:spPr>
          <a:xfrm>
            <a:off x="754380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ABI-encoded on-chain</a:t>
            </a:r>
            <a:endParaRPr lang="en-US" sz="900" dirty="0"/>
          </a:p>
        </p:txBody>
      </p:sp>
      <p:sp>
        <p:nvSpPr>
          <p:cNvPr id="46" name="Shape 37"/>
          <p:cNvSpPr/>
          <p:nvPr/>
        </p:nvSpPr>
        <p:spPr>
          <a:xfrm>
            <a:off x="457200" y="2788920"/>
            <a:ext cx="8229600" cy="196596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457200" y="2788920"/>
            <a:ext cx="8229600" cy="36576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48" name="Text 39"/>
          <p:cNvSpPr/>
          <p:nvPr/>
        </p:nvSpPr>
        <p:spPr>
          <a:xfrm>
            <a:off x="640080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On-Chain SentinelGuardian — Second Defense Layer</a:t>
            </a:r>
            <a:endParaRPr lang="en-US" sz="1400" dirty="0"/>
          </a:p>
        </p:txBody>
      </p:sp>
      <p:sp>
        <p:nvSpPr>
          <p:cNvPr id="49" name="Shape 40"/>
          <p:cNvSpPr/>
          <p:nvPr/>
        </p:nvSpPr>
        <p:spPr>
          <a:xfrm>
            <a:off x="594360" y="3291840"/>
            <a:ext cx="1417320" cy="77724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0" y="3337560"/>
            <a:ext cx="274320" cy="274320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640080" y="36576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checkValue()</a:t>
            </a:r>
            <a:endParaRPr lang="en-US" sz="1000" dirty="0"/>
          </a:p>
        </p:txBody>
      </p:sp>
      <p:sp>
        <p:nvSpPr>
          <p:cNvPr id="52" name="Text 42"/>
          <p:cNvSpPr/>
          <p:nvPr/>
        </p:nvSpPr>
        <p:spPr>
          <a:xfrm>
            <a:off x="640080" y="38404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value within limit</a:t>
            </a:r>
            <a:endParaRPr lang="en-US" sz="900" dirty="0"/>
          </a:p>
        </p:txBody>
      </p:sp>
      <p:sp>
        <p:nvSpPr>
          <p:cNvPr id="53" name="Shape 43"/>
          <p:cNvSpPr/>
          <p:nvPr/>
        </p:nvSpPr>
        <p:spPr>
          <a:xfrm>
            <a:off x="2194560" y="3291840"/>
            <a:ext cx="1417320" cy="77724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5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7480" y="3337560"/>
            <a:ext cx="274320" cy="274320"/>
          </a:xfrm>
          <a:prstGeom prst="rect">
            <a:avLst/>
          </a:prstGeom>
        </p:spPr>
      </p:pic>
      <p:sp>
        <p:nvSpPr>
          <p:cNvPr id="55" name="Text 44"/>
          <p:cNvSpPr/>
          <p:nvPr/>
        </p:nvSpPr>
        <p:spPr>
          <a:xfrm>
            <a:off x="2240280" y="36576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checkTarget()</a:t>
            </a:r>
            <a:endParaRPr lang="en-US" sz="1000" dirty="0"/>
          </a:p>
        </p:txBody>
      </p:sp>
      <p:sp>
        <p:nvSpPr>
          <p:cNvPr id="56" name="Text 45"/>
          <p:cNvSpPr/>
          <p:nvPr/>
        </p:nvSpPr>
        <p:spPr>
          <a:xfrm>
            <a:off x="2240280" y="38404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whitelisted</a:t>
            </a:r>
            <a:endParaRPr lang="en-US" sz="900" dirty="0"/>
          </a:p>
        </p:txBody>
      </p:sp>
      <p:sp>
        <p:nvSpPr>
          <p:cNvPr id="57" name="Shape 46"/>
          <p:cNvSpPr/>
          <p:nvPr/>
        </p:nvSpPr>
        <p:spPr>
          <a:xfrm>
            <a:off x="3794760" y="3291840"/>
            <a:ext cx="1417320" cy="77724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5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97680" y="3337560"/>
            <a:ext cx="274320" cy="274320"/>
          </a:xfrm>
          <a:prstGeom prst="rect">
            <a:avLst/>
          </a:prstGeom>
        </p:spPr>
      </p:pic>
      <p:sp>
        <p:nvSpPr>
          <p:cNvPr id="59" name="Text 47"/>
          <p:cNvSpPr/>
          <p:nvPr/>
        </p:nvSpPr>
        <p:spPr>
          <a:xfrm>
            <a:off x="3840480" y="36576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checkFunction()</a:t>
            </a:r>
            <a:endParaRPr lang="en-US" sz="1000" dirty="0"/>
          </a:p>
        </p:txBody>
      </p:sp>
      <p:sp>
        <p:nvSpPr>
          <p:cNvPr id="60" name="Text 48"/>
          <p:cNvSpPr/>
          <p:nvPr/>
        </p:nvSpPr>
        <p:spPr>
          <a:xfrm>
            <a:off x="3840480" y="38404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not blocked</a:t>
            </a:r>
            <a:endParaRPr lang="en-US" sz="900" dirty="0"/>
          </a:p>
        </p:txBody>
      </p:sp>
      <p:sp>
        <p:nvSpPr>
          <p:cNvPr id="61" name="Shape 49"/>
          <p:cNvSpPr/>
          <p:nvPr/>
        </p:nvSpPr>
        <p:spPr>
          <a:xfrm>
            <a:off x="5394960" y="3291840"/>
            <a:ext cx="1417320" cy="77724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6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97880" y="3337560"/>
            <a:ext cx="274320" cy="274320"/>
          </a:xfrm>
          <a:prstGeom prst="rect">
            <a:avLst/>
          </a:prstGeom>
        </p:spPr>
      </p:pic>
      <p:sp>
        <p:nvSpPr>
          <p:cNvPr id="63" name="Text 50"/>
          <p:cNvSpPr/>
          <p:nvPr/>
        </p:nvSpPr>
        <p:spPr>
          <a:xfrm>
            <a:off x="5440680" y="36576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checkRateLimit()</a:t>
            </a:r>
            <a:endParaRPr lang="en-US" sz="1000" dirty="0"/>
          </a:p>
        </p:txBody>
      </p:sp>
      <p:sp>
        <p:nvSpPr>
          <p:cNvPr id="64" name="Text 51"/>
          <p:cNvSpPr/>
          <p:nvPr/>
        </p:nvSpPr>
        <p:spPr>
          <a:xfrm>
            <a:off x="5440680" y="38404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window check</a:t>
            </a:r>
            <a:endParaRPr lang="en-US" sz="900" dirty="0"/>
          </a:p>
        </p:txBody>
      </p:sp>
      <p:sp>
        <p:nvSpPr>
          <p:cNvPr id="65" name="Shape 52"/>
          <p:cNvSpPr/>
          <p:nvPr/>
        </p:nvSpPr>
        <p:spPr>
          <a:xfrm>
            <a:off x="6995160" y="3291840"/>
            <a:ext cx="1417320" cy="77724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6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98080" y="3337560"/>
            <a:ext cx="274320" cy="274320"/>
          </a:xfrm>
          <a:prstGeom prst="rect">
            <a:avLst/>
          </a:prstGeom>
        </p:spPr>
      </p:pic>
      <p:sp>
        <p:nvSpPr>
          <p:cNvPr id="67" name="Text 53"/>
          <p:cNvSpPr/>
          <p:nvPr/>
        </p:nvSpPr>
        <p:spPr>
          <a:xfrm>
            <a:off x="7040880" y="36576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checkMintAmount()</a:t>
            </a:r>
            <a:endParaRPr lang="en-US" sz="1000" dirty="0"/>
          </a:p>
        </p:txBody>
      </p:sp>
      <p:sp>
        <p:nvSpPr>
          <p:cNvPr id="68" name="Text 54"/>
          <p:cNvSpPr/>
          <p:nvPr/>
        </p:nvSpPr>
        <p:spPr>
          <a:xfrm>
            <a:off x="7040880" y="38404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within cap</a:t>
            </a:r>
            <a:endParaRPr lang="en-US" sz="900" dirty="0"/>
          </a:p>
        </p:txBody>
      </p:sp>
      <p:pic>
        <p:nvPicPr>
          <p:cNvPr id="6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7280" y="4251960"/>
            <a:ext cx="228600" cy="228600"/>
          </a:xfrm>
          <a:prstGeom prst="rect">
            <a:avLst/>
          </a:prstGeom>
        </p:spPr>
      </p:pic>
      <p:sp>
        <p:nvSpPr>
          <p:cNvPr id="70" name="Text 55"/>
          <p:cNvSpPr/>
          <p:nvPr/>
        </p:nvSpPr>
        <p:spPr>
          <a:xfrm>
            <a:off x="1371600" y="4251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 → Action APPROVED</a:t>
            </a:r>
            <a:endParaRPr lang="en-US" sz="1100" dirty="0"/>
          </a:p>
        </p:txBody>
      </p:sp>
      <p:pic>
        <p:nvPicPr>
          <p:cNvPr id="7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29200" y="4251960"/>
            <a:ext cx="228600" cy="228600"/>
          </a:xfrm>
          <a:prstGeom prst="rect">
            <a:avLst/>
          </a:prstGeom>
        </p:spPr>
      </p:pic>
      <p:sp>
        <p:nvSpPr>
          <p:cNvPr id="72" name="Text 56"/>
          <p:cNvSpPr/>
          <p:nvPr/>
        </p:nvSpPr>
        <p:spPr>
          <a:xfrm>
            <a:off x="5303520" y="4251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fail → Circuit Breaker → Agent FROZEN</a:t>
            </a:r>
            <a:endParaRPr lang="en-US" sz="1100" dirty="0"/>
          </a:p>
        </p:txBody>
      </p:sp>
      <p:sp>
        <p:nvSpPr>
          <p:cNvPr id="73" name="Text 5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74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Two-Layer Defense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0" y="274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3886200" cy="356616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005840"/>
            <a:ext cx="38862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188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14630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Consensus (Off-Chain via CRE)</a:t>
            </a:r>
            <a:endParaRPr lang="en-US" sz="15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2024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19019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what the agent is doing, not who it claims to be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04288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must return APPROVED — unanimous consensus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688336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120" y="26700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Temperature=0 for deterministic output across DON nodes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072384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60120" y="30540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nuanced attacks from legitimate but hijacked agents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456432"/>
            <a:ext cx="182880" cy="1828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60120" y="34381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stolen key with valid permissions still gets scrutinized</a:t>
            </a:r>
            <a:endParaRPr lang="en-US" sz="1050" dirty="0"/>
          </a:p>
        </p:txBody>
      </p:sp>
      <p:sp>
        <p:nvSpPr>
          <p:cNvPr id="20" name="Shape 12"/>
          <p:cNvSpPr/>
          <p:nvPr/>
        </p:nvSpPr>
        <p:spPr>
          <a:xfrm>
            <a:off x="4800600" y="1005840"/>
            <a:ext cx="3886200" cy="356616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4800600" y="1005840"/>
            <a:ext cx="3886200" cy="4572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2" name="Text 14"/>
          <p:cNvSpPr/>
          <p:nvPr/>
        </p:nvSpPr>
        <p:spPr>
          <a:xfrm>
            <a:off x="4983480" y="1188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FF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2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4983480" y="14630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On-Chain Policy (Smart Contract)</a:t>
            </a:r>
            <a:endParaRPr lang="en-US" sz="15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1920240"/>
            <a:ext cx="182880" cy="18288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303520" y="19019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guardrails no credential or identity can bypass</a:t>
            </a:r>
            <a:endParaRPr lang="en-US" sz="105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2304288"/>
            <a:ext cx="182880" cy="18288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30352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limits, target whitelists, function blacklists</a:t>
            </a:r>
            <a:endParaRPr lang="en-US" sz="105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2688336"/>
            <a:ext cx="182880" cy="18288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303520" y="26700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catches rapid-fire drains from hijacked agents</a:t>
            </a:r>
            <a:endParaRPr lang="en-US" sz="105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3072384"/>
            <a:ext cx="182880" cy="18288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303520" y="30540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amount caps prevent infinite mint — regardless of source</a:t>
            </a:r>
            <a:endParaRPr lang="en-US" sz="1050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0" y="3456432"/>
            <a:ext cx="182880" cy="18288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5303520" y="34381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both AIs are fooled, policy enforces absolute limits</a:t>
            </a:r>
            <a:endParaRPr lang="en-US" sz="1050" dirty="0"/>
          </a:p>
        </p:txBody>
      </p:sp>
      <p:sp>
        <p:nvSpPr>
          <p:cNvPr id="34" name="Shape 21"/>
          <p:cNvSpPr/>
          <p:nvPr/>
        </p:nvSpPr>
        <p:spPr>
          <a:xfrm>
            <a:off x="457200" y="4709160"/>
            <a:ext cx="8229600" cy="27432"/>
          </a:xfrm>
          <a:prstGeom prst="rect">
            <a:avLst/>
          </a:prstGeom>
          <a:solidFill>
            <a:srgbClr val="FFD700">
              <a:alpha val="50000"/>
            </a:srgbClr>
          </a:solidFill>
          <a:ln/>
        </p:spPr>
      </p:sp>
      <p:sp>
        <p:nvSpPr>
          <p:cNvPr id="35" name="Shape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736"/>
          </a:solidFill>
          <a:ln/>
        </p:spPr>
      </p:sp>
      <p:sp>
        <p:nvSpPr>
          <p:cNvPr id="36" name="Text 23"/>
          <p:cNvSpPr/>
          <p:nvPr/>
        </p:nvSpPr>
        <p:spPr>
          <a:xfrm>
            <a:off x="457200" y="4983480"/>
            <a:ext cx="54864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SentinelCRE — Decentralized AI Guardian Protocol</a:t>
            </a:r>
            <a:endParaRPr lang="en-US" sz="800" dirty="0"/>
          </a:p>
        </p:txBody>
      </p:sp>
      <p:sp>
        <p:nvSpPr>
          <p:cNvPr id="37" name="Text 2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74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Fail-Safe Design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DENY on any uncertainty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3886200" cy="132588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80160"/>
            <a:ext cx="54864" cy="1325880"/>
          </a:xfrm>
          <a:prstGeom prst="rect">
            <a:avLst/>
          </a:prstGeom>
          <a:solidFill>
            <a:srgbClr val="FF3B3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30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417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Model Unavailable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85800" y="1920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either AI model can't be reached, verdict defaults to DENIED. No action passes on silence.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2834640"/>
            <a:ext cx="3886200" cy="132588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" y="2834640"/>
            <a:ext cx="54864" cy="1325880"/>
          </a:xfrm>
          <a:prstGeom prst="rect">
            <a:avLst/>
          </a:prstGeom>
          <a:solidFill>
            <a:srgbClr val="FF3B3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971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 Parse Failure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85800" y="34747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AI response can't be parsed, verdict defaults to DENIED. Corrupted data never gets through.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800600" y="1280160"/>
            <a:ext cx="3886200" cy="132588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800600" y="1280160"/>
            <a:ext cx="54864" cy="1325880"/>
          </a:xfrm>
          <a:prstGeom prst="rect">
            <a:avLst/>
          </a:prstGeom>
          <a:solidFill>
            <a:srgbClr val="FF3B3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46304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32120" y="1417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Error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029200" y="1920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error anywhere in the evaluation pipeline automatically results in DENY. No exceptions.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800600" y="2834640"/>
            <a:ext cx="3886200" cy="132588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800600" y="2834640"/>
            <a:ext cx="54864" cy="1325880"/>
          </a:xfrm>
          <a:prstGeom prst="rect">
            <a:avLst/>
          </a:prstGeom>
          <a:solidFill>
            <a:srgbClr val="FF3B3B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01752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532120" y="2971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Uncertainty Bypass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5029200" y="34747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guardian never lets an action through when uncertain. Ambiguity is always treated as a threat.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736"/>
          </a:solidFill>
          <a:ln/>
        </p:spPr>
      </p:sp>
      <p:sp>
        <p:nvSpPr>
          <p:cNvPr id="27" name="Text 20"/>
          <p:cNvSpPr/>
          <p:nvPr/>
        </p:nvSpPr>
        <p:spPr>
          <a:xfrm>
            <a:off x="457200" y="4983480"/>
            <a:ext cx="54864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SentinelCRE — Decentralized AI Guardian Protocol</a:t>
            </a:r>
            <a:endParaRPr lang="en-US" sz="800" dirty="0"/>
          </a:p>
        </p:txBody>
      </p:sp>
      <p:sp>
        <p:nvSpPr>
          <p:cNvPr id="28" name="Text 2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74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Demo: Rogue DeFi Agent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0" y="320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attack vectors — all blocked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645920"/>
                <a:gridCol w="219456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0E2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ATTACK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0E2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RESULT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0E2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REASON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0E2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CAUGHT BY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6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ETH swap (limit: 1 ETH)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3B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DENIED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exceeds max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+ Policy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6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to unapproved contract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3B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DENIED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not whitelisted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+ Policy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6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function (selfdestruct)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3B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DENIED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blocklisted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+ Policy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6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rapid-fire transactions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3B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DENIED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limit exceeded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On-Chain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6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1B stablecoin mint (cap: 1M)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3B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DENIED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Infinite mint detected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+ Policy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45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57200" y="3977640"/>
            <a:ext cx="54864" cy="73152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the right keys and a legitimate address, a bad actor can't execute a single malicious action. SentinelCRE watches behavior, not identity — every vector is caught.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736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4983480"/>
            <a:ext cx="54864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SentinelCRE — Decentralized AI Guardian Protocol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 Demo: Infinite Mint Blocked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60120" y="685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real attacks that cost $180M+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94360" y="1170432"/>
            <a:ext cx="384048" cy="384048"/>
          </a:xfrm>
          <a:prstGeom prst="oval">
            <a:avLst/>
          </a:prstGeom>
          <a:solidFill>
            <a:srgbClr val="FF3B3B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68096" y="1554480"/>
            <a:ext cx="27432" cy="237744"/>
          </a:xfrm>
          <a:prstGeom prst="rect">
            <a:avLst/>
          </a:prstGeom>
          <a:solidFill>
            <a:srgbClr val="FF3B3B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188720" y="11155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Hijacked agent attempts to mint 1,000,000,000 stablecoins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88720" y="13898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is 1,000,000 tokens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" y="1792224"/>
            <a:ext cx="384048" cy="384048"/>
          </a:xfrm>
          <a:prstGeom prst="oval">
            <a:avLst/>
          </a:prstGeom>
          <a:solidFill>
            <a:srgbClr val="00D4FF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68096" y="2176272"/>
            <a:ext cx="27432" cy="237744"/>
          </a:xfrm>
          <a:prstGeom prst="rect">
            <a:avLst/>
          </a:prstGeom>
          <a:solidFill>
            <a:srgbClr val="00D4FF">
              <a:alpha val="5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188720" y="1737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1 flags: "Mint exceeds safe cap — potential infinite mint attack"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88720" y="2011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confidence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2414016"/>
            <a:ext cx="384048" cy="384048"/>
          </a:xfrm>
          <a:prstGeom prst="oval">
            <a:avLst/>
          </a:prstGeom>
          <a:solidFill>
            <a:srgbClr val="00D4FF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68096" y="2798064"/>
            <a:ext cx="27432" cy="237744"/>
          </a:xfrm>
          <a:prstGeom prst="rect">
            <a:avLst/>
          </a:prstGeom>
          <a:solidFill>
            <a:srgbClr val="00D4FF">
              <a:alpha val="5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1188720" y="2359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2 independently flags the same threat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188720" y="26334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Multi-AI consensus: DENIED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94360" y="3035808"/>
            <a:ext cx="384048" cy="384048"/>
          </a:xfrm>
          <a:prstGeom prst="oval">
            <a:avLst/>
          </a:prstGeom>
          <a:solidFill>
            <a:srgbClr val="00FF88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68096" y="3419856"/>
            <a:ext cx="27432" cy="237744"/>
          </a:xfrm>
          <a:prstGeom prst="rect">
            <a:avLst/>
          </a:prstGeom>
          <a:solidFill>
            <a:srgbClr val="00FF88">
              <a:alpha val="5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1188720" y="29809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checkMintAmount() catches it as second defense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1188720" y="325526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layer confirms denial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94360" y="3657600"/>
            <a:ext cx="384048" cy="384048"/>
          </a:xfrm>
          <a:prstGeom prst="oval">
            <a:avLst/>
          </a:prstGeom>
          <a:solidFill>
            <a:srgbClr val="FFD700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68096" y="4041648"/>
            <a:ext cx="27432" cy="237744"/>
          </a:xfrm>
          <a:prstGeom prst="rect">
            <a:avLst/>
          </a:prstGeom>
          <a:solidFill>
            <a:srgbClr val="FFD700">
              <a:alpha val="5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1188720" y="36027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fires → Agent state set to FROZEN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1188720" y="38770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logged immutably on-chain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94360" y="4279392"/>
            <a:ext cx="384048" cy="384048"/>
          </a:xfrm>
          <a:prstGeom prst="oval">
            <a:avLst/>
          </a:prstGeom>
          <a:solidFill>
            <a:srgbClr val="00FF88"/>
          </a:solidFill>
          <a:ln/>
        </p:spPr>
      </p:sp>
      <p:sp>
        <p:nvSpPr>
          <p:cNvPr id="32" name="Text 29"/>
          <p:cNvSpPr/>
          <p:nvPr/>
        </p:nvSpPr>
        <p:spPr>
          <a:xfrm>
            <a:off x="594360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188720" y="4224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single token was minted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1188720" y="44988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damage. Full protection.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736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983480"/>
            <a:ext cx="54864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SentinelCRE — Decentralized AI Guardian Protocol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74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Contracts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2606040" cy="320040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260604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SentinelGuardian.sol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guardian contract with AccessControl, Pausable, circuit breaker, rate limiting, and daily volume tracking.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2194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processVerdict() — receives CRE verdict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94360" y="25420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PolicyLib.checkAll() — 5 policy checks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94360" y="28895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Circuit breaker → freeze agent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94360" y="32369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Incident history (rolling buffer, max 100)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91840" y="1005840"/>
            <a:ext cx="2606040" cy="320040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1005840"/>
            <a:ext cx="2606040" cy="4572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5" name="Text 12"/>
          <p:cNvSpPr/>
          <p:nvPr/>
        </p:nvSpPr>
        <p:spPr>
          <a:xfrm>
            <a:off x="3429000" y="1143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PolicyLib.sol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429000" y="14630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validation library with 9-field AgentPolicy struct and 5 individual check functions.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429000" y="2194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checkValue() — max ETH per TX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429000" y="25420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checkTarget() — whitelist enforcement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429000" y="28895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checkFunction() — function blacklist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429000" y="32369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checkMintAmount() — mint cap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126480" y="1005840"/>
            <a:ext cx="2606040" cy="320040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126480" y="1005840"/>
            <a:ext cx="2606040" cy="457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3" name="Text 20"/>
          <p:cNvSpPr/>
          <p:nvPr/>
        </p:nvSpPr>
        <p:spPr>
          <a:xfrm>
            <a:off x="6263640" y="1143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AgentRegistry.sol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263640" y="14630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Ownable registry for agent metadata with enumeration support.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263640" y="2194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Agent ID → metadata mapping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263640" y="25420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Name, description, owner tracking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263640" y="28895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getAgentIdAt() enumeration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263640" y="32369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Event emission on registration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462272"/>
            <a:ext cx="320040" cy="32004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1097280" y="4389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61 tests  •  3 suites  •  All passing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4389120" y="43891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SentinelGuardian (45)  +  AgentRegistry (8)  +  Integration (8)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736"/>
          </a:solidFill>
          <a:ln/>
        </p:spPr>
      </p:sp>
      <p:sp>
        <p:nvSpPr>
          <p:cNvPr id="34" name="Text 30"/>
          <p:cNvSpPr/>
          <p:nvPr/>
        </p:nvSpPr>
        <p:spPr>
          <a:xfrm>
            <a:off x="457200" y="4983480"/>
            <a:ext cx="54864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SentinelCRE — Decentralized AI Guardian Protocol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74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Chainlink Integration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Chainlink services — deep native integration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4114800" cy="105156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34440"/>
            <a:ext cx="54864" cy="10515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325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 Workflow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91840" y="1344168"/>
            <a:ext cx="1097280" cy="201168"/>
          </a:xfrm>
          <a:prstGeom prst="rect">
            <a:avLst/>
          </a:prstGeom>
          <a:solidFill>
            <a:srgbClr val="00D4FF">
              <a:alpha val="2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3291840" y="13441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SDK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85800" y="16733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backbone — HTTP trigger for verdicts, Cron for health checks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2468880"/>
            <a:ext cx="4114800" cy="105156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2468880"/>
            <a:ext cx="54864" cy="10515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2560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 HTTPClient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91840" y="2578608"/>
            <a:ext cx="1097280" cy="201168"/>
          </a:xfrm>
          <a:prstGeom prst="rect">
            <a:avLst/>
          </a:prstGeom>
          <a:solidFill>
            <a:srgbClr val="00D4FF">
              <a:alpha val="25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3291840" y="2578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SDK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85800" y="29077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2 AI models with ConsensusAggregationByFields for multi-AI consensus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3703320"/>
            <a:ext cx="4114800" cy="105156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3703320"/>
            <a:ext cx="54864" cy="10515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" y="3794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 EVMClient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291840" y="3813048"/>
            <a:ext cx="1097280" cy="201168"/>
          </a:xfrm>
          <a:prstGeom prst="rect">
            <a:avLst/>
          </a:prstGeom>
          <a:solidFill>
            <a:srgbClr val="00D4FF">
              <a:alpha val="25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3291840" y="38130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SDK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85800" y="41422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agent policies and writes verdict reports to SentinelGuardian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800600" y="1234440"/>
            <a:ext cx="4114800" cy="105156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800600" y="1234440"/>
            <a:ext cx="54864" cy="10515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0" y="1325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 CronCapability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635240" y="1344168"/>
            <a:ext cx="1097280" cy="201168"/>
          </a:xfrm>
          <a:prstGeom prst="rect">
            <a:avLst/>
          </a:prstGeom>
          <a:solidFill>
            <a:srgbClr val="00FF88">
              <a:alpha val="25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7635240" y="13441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SDK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029200" y="16733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health checks every 5 min, proactive anomaly detection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800600" y="2468880"/>
            <a:ext cx="4114800" cy="105156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800600" y="2468880"/>
            <a:ext cx="54864" cy="10515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2" name="Text 29"/>
          <p:cNvSpPr/>
          <p:nvPr/>
        </p:nvSpPr>
        <p:spPr>
          <a:xfrm>
            <a:off x="5029200" y="2560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Confidential HTTP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7635240" y="2578608"/>
            <a:ext cx="1097280" cy="201168"/>
          </a:xfrm>
          <a:prstGeom prst="rect">
            <a:avLst/>
          </a:prstGeom>
          <a:solidFill>
            <a:srgbClr val="FFD700">
              <a:alpha val="25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7635240" y="2578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SDK (alpha)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029200" y="29077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API keys and guardrail thresholds from individual DON nodes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800600" y="3703320"/>
            <a:ext cx="4114800" cy="105156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800600" y="3703320"/>
            <a:ext cx="54864" cy="10515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8" name="Text 35"/>
          <p:cNvSpPr/>
          <p:nvPr/>
        </p:nvSpPr>
        <p:spPr>
          <a:xfrm>
            <a:off x="5029200" y="3794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Confidential Compute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7635240" y="3813048"/>
            <a:ext cx="1097280" cy="201168"/>
          </a:xfrm>
          <a:prstGeom prst="rect">
            <a:avLst/>
          </a:prstGeom>
          <a:solidFill>
            <a:srgbClr val="FFD700">
              <a:alpha val="2500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7635240" y="38130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markers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029200" y="41422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hide policy parameters from AI agents to prevent gaming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736"/>
          </a:solidFill>
          <a:ln/>
        </p:spPr>
      </p:sp>
      <p:sp>
        <p:nvSpPr>
          <p:cNvPr id="43" name="Text 40"/>
          <p:cNvSpPr/>
          <p:nvPr/>
        </p:nvSpPr>
        <p:spPr>
          <a:xfrm>
            <a:off x="457200" y="4983480"/>
            <a:ext cx="54864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SentinelCRE — Decentralized AI Guardian Protocol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74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4-Layer Security Model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640080" cy="7772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00584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1887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1078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Consensus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828800" y="1417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114800" y="1005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AI models, BFT consensus, temperature=0 determinism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200" y="1965960"/>
            <a:ext cx="640080" cy="77724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4" name="Text 10"/>
          <p:cNvSpPr/>
          <p:nvPr/>
        </p:nvSpPr>
        <p:spPr>
          <a:xfrm>
            <a:off x="457200" y="196596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1488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28800" y="20391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On-Chain Policy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82880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114800" y="19659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value/target/function/rate/mint checks via PolicyLib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2926080"/>
            <a:ext cx="640080" cy="7772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1" name="Text 16"/>
          <p:cNvSpPr/>
          <p:nvPr/>
        </p:nvSpPr>
        <p:spPr>
          <a:xfrm>
            <a:off x="457200" y="29260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10896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828800" y="2999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Circuit Breaker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828800" y="3337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Response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114800" y="29260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freeze, immutable logging, admin-only recovery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7200" y="3886200"/>
            <a:ext cx="640080" cy="777240"/>
          </a:xfrm>
          <a:prstGeom prst="rect">
            <a:avLst/>
          </a:prstGeom>
          <a:solidFill>
            <a:srgbClr val="0099BB"/>
          </a:solidFill>
          <a:ln/>
        </p:spPr>
      </p:sp>
      <p:sp>
        <p:nvSpPr>
          <p:cNvPr id="28" name="Text 22"/>
          <p:cNvSpPr/>
          <p:nvPr/>
        </p:nvSpPr>
        <p:spPr>
          <a:xfrm>
            <a:off x="457200" y="388620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406908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828800" y="39593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Confidential Compute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1828800" y="4297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Layer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4114800" y="38862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policy thresholds from agents, preventing gaming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736"/>
          </a:solidFill>
          <a:ln/>
        </p:spPr>
      </p:sp>
      <p:sp>
        <p:nvSpPr>
          <p:cNvPr id="34" name="Text 27"/>
          <p:cNvSpPr/>
          <p:nvPr/>
        </p:nvSpPr>
        <p:spPr>
          <a:xfrm>
            <a:off x="457200" y="4983480"/>
            <a:ext cx="54864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SentinelCRE — Decentralized AI Guardian Protocol</a:t>
            </a:r>
            <a:endParaRPr lang="en-US" sz="800" dirty="0"/>
          </a:p>
        </p:txBody>
      </p:sp>
      <p:sp>
        <p:nvSpPr>
          <p:cNvPr id="35" name="Text 2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74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SentinelCRE Wins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4114800" cy="105156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1051560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Problem, Real Stakes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$180M+ lost to exploits SentinelCRE prevents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4114800" cy="105156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286000"/>
            <a:ext cx="54864" cy="10515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Two-Layer Defense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5800" y="2788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consensus + on-chain policy — no single point of failure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566160"/>
            <a:ext cx="4114800" cy="105156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3566160"/>
            <a:ext cx="54864" cy="10515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Behavioral Firewall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85800" y="4069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what agents do, not who they are — stolen keys can't bypass it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800600" y="1005840"/>
            <a:ext cx="4114800" cy="105156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00600" y="1005840"/>
            <a:ext cx="54864" cy="10515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Proactive, Not Reactive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02920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before execution — not a kill switch that fires after damage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00600" y="2286000"/>
            <a:ext cx="4114800" cy="105156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00600" y="2286000"/>
            <a:ext cx="54864" cy="10515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3" name="Text 20"/>
          <p:cNvSpPr/>
          <p:nvPr/>
        </p:nvSpPr>
        <p:spPr>
          <a:xfrm>
            <a:off x="502920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Production-Grade Testing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029200" y="2788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tests, 3 suites, covering infinite mint, rate limits, circuit breakers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800600" y="3566160"/>
            <a:ext cx="4114800" cy="1051560"/>
          </a:xfrm>
          <a:prstGeom prst="rect">
            <a:avLst/>
          </a:prstGeom>
          <a:solidFill>
            <a:srgbClr val="161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800600" y="3566160"/>
            <a:ext cx="54864" cy="10515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7" name="Text 24"/>
          <p:cNvSpPr/>
          <p:nvPr/>
        </p:nvSpPr>
        <p:spPr>
          <a:xfrm>
            <a:off x="502920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Confidential Compute Ready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029200" y="4069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agents from learning and gaming their own constraints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736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4983480"/>
            <a:ext cx="54864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SentinelCRE — Decentralized AI Guardian Protocol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2743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9144000" cy="2743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371600"/>
            <a:ext cx="9144000" cy="2743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828800"/>
            <a:ext cx="9144000" cy="2743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286000"/>
            <a:ext cx="9144000" cy="2743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743200"/>
            <a:ext cx="9144000" cy="2743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200400"/>
            <a:ext cx="9144000" cy="2743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657600"/>
            <a:ext cx="9144000" cy="2743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114800"/>
            <a:ext cx="9144000" cy="2743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2743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029200"/>
            <a:ext cx="9144000" cy="2743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2860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1148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7724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2296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686800" y="0"/>
            <a:ext cx="2743" cy="5143500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457200"/>
            <a:ext cx="1554480" cy="155448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383280" y="45720"/>
            <a:ext cx="2377440" cy="2377440"/>
          </a:xfrm>
          <a:prstGeom prst="oval">
            <a:avLst/>
          </a:prstGeom>
          <a:solidFill>
            <a:srgbClr val="00D4FF">
              <a:alpha val="10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SentinelCRE</a:t>
            </a:r>
            <a:endParaRPr lang="en-US" sz="4400" dirty="0"/>
          </a:p>
        </p:txBody>
      </p:sp>
      <p:sp>
        <p:nvSpPr>
          <p:cNvPr id="37" name="Text 3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matter who walks through the door — we watch what they do inside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3200400" y="3246120"/>
            <a:ext cx="2743200" cy="27432"/>
          </a:xfrm>
          <a:prstGeom prst="rect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github.com/ProjectWaja/SentinelCRE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Willis — @ProjectWaja  |  Blockchain Musketeers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 Convergence Hackathon  •  Feb 6 – Mar 1, 2026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Deployed: Tenderly Virtual TestNet (Sepolia Fork)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D4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SentinelCRE — Decentralized AI Guardian Protocol</dc:title>
  <dc:subject>PptxGenJS Presentation</dc:subject>
  <dc:creator>Willis — @ProjectWaja</dc:creator>
  <cp:lastModifiedBy>Willis — @ProjectWaja</cp:lastModifiedBy>
  <cp:revision>1</cp:revision>
  <dcterms:created xsi:type="dcterms:W3CDTF">2026-02-12T21:07:16Z</dcterms:created>
  <dcterms:modified xsi:type="dcterms:W3CDTF">2026-02-12T21:07:16Z</dcterms:modified>
</cp:coreProperties>
</file>